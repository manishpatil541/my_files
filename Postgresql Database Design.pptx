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5" r:id="rId6"/>
    <p:sldId id="267" r:id="rId7"/>
    <p:sldId id="268" r:id="rId8"/>
    <p:sldId id="269" r:id="rId9"/>
    <p:sldId id="264" r:id="rId10"/>
  </p:sldIdLst>
  <p:sldSz cx="9144000" cy="6858000" type="screen4x3"/>
  <p:notesSz cx="7559675" cy="1069149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946" y="-374"/>
      </p:cViewPr>
      <p:guideLst>
        <p:guide orient="horz" pos="215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5" name="Google Shape;6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8c0ae5a757_0_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1" name="Google Shape;71;g8c0ae5a757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8c0ae5a757_0_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1" name="Google Shape;71;g8c0ae5a757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8728b34f7d_0_3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g8728b34f7d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 Slide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, Content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7543440" cy="129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457200" y="1719360"/>
            <a:ext cx="8229240" cy="441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itle, 2 Content">
  <p:cSld name="TWO_OBJECT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7543440" cy="129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457200" y="1719360"/>
            <a:ext cx="4015800" cy="441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4674240" y="1719360"/>
            <a:ext cx="4015800" cy="441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7543440" cy="129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matchingName="Centered Text">
  <p:cSld name="OBJECT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subTitle" idx="1"/>
          </p:nvPr>
        </p:nvSpPr>
        <p:spPr>
          <a:xfrm>
            <a:off x="457200" y="228600"/>
            <a:ext cx="7543440" cy="60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matchingName="Title, 2 Content and Content">
  <p:cSld name="TWO_OBJECTS_AND_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7543440" cy="129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457200" y="1719360"/>
            <a:ext cx="40158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8"/>
          <p:cNvSpPr txBox="1">
            <a:spLocks noGrp="1"/>
          </p:cNvSpPr>
          <p:nvPr>
            <p:ph type="body" idx="2"/>
          </p:nvPr>
        </p:nvSpPr>
        <p:spPr>
          <a:xfrm>
            <a:off x="4674240" y="1719360"/>
            <a:ext cx="4015800" cy="441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>
            <a:spLocks noGrp="1"/>
          </p:cNvSpPr>
          <p:nvPr>
            <p:ph type="body" idx="3"/>
          </p:nvPr>
        </p:nvSpPr>
        <p:spPr>
          <a:xfrm>
            <a:off x="457200" y="4023720"/>
            <a:ext cx="40158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matchingName="Title Content and 2 Content">
  <p:cSld name="OBJECT_AND_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7543440" cy="129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>
            <a:spLocks noGrp="1"/>
          </p:cNvSpPr>
          <p:nvPr>
            <p:ph type="body" idx="1"/>
          </p:nvPr>
        </p:nvSpPr>
        <p:spPr>
          <a:xfrm>
            <a:off x="457200" y="1719360"/>
            <a:ext cx="4015800" cy="441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4674240" y="1719360"/>
            <a:ext cx="40158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>
            <a:spLocks noGrp="1"/>
          </p:cNvSpPr>
          <p:nvPr>
            <p:ph type="body" idx="3"/>
          </p:nvPr>
        </p:nvSpPr>
        <p:spPr>
          <a:xfrm>
            <a:off x="4674240" y="4023720"/>
            <a:ext cx="40158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matchingName="Title, 2 Content over Content">
  <p:cSld name="TWO_OBJECTS_OVER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7543440" cy="129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57200" y="1719360"/>
            <a:ext cx="40158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>
            <a:spLocks noGrp="1"/>
          </p:cNvSpPr>
          <p:nvPr>
            <p:ph type="body" idx="2"/>
          </p:nvPr>
        </p:nvSpPr>
        <p:spPr>
          <a:xfrm>
            <a:off x="4674240" y="1719360"/>
            <a:ext cx="40158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>
            <a:spLocks noGrp="1"/>
          </p:cNvSpPr>
          <p:nvPr>
            <p:ph type="body" idx="3"/>
          </p:nvPr>
        </p:nvSpPr>
        <p:spPr>
          <a:xfrm>
            <a:off x="457200" y="4023720"/>
            <a:ext cx="822924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matchingName="Title, Content over Content">
  <p:cSld name="OBJECT_OVER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7543440" cy="129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457200" y="1719360"/>
            <a:ext cx="822924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>
            <a:spLocks noGrp="1"/>
          </p:cNvSpPr>
          <p:nvPr>
            <p:ph type="body" idx="2"/>
          </p:nvPr>
        </p:nvSpPr>
        <p:spPr>
          <a:xfrm>
            <a:off x="457200" y="4023720"/>
            <a:ext cx="822924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matchingName="Title, 4 Content">
  <p:cSld name="FOUR_OBJECTS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7543440" cy="129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>
            <a:spLocks noGrp="1"/>
          </p:cNvSpPr>
          <p:nvPr>
            <p:ph type="body" idx="1"/>
          </p:nvPr>
        </p:nvSpPr>
        <p:spPr>
          <a:xfrm>
            <a:off x="457200" y="1719360"/>
            <a:ext cx="40158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>
            <a:spLocks noGrp="1"/>
          </p:cNvSpPr>
          <p:nvPr>
            <p:ph type="body" idx="2"/>
          </p:nvPr>
        </p:nvSpPr>
        <p:spPr>
          <a:xfrm>
            <a:off x="4674240" y="1719360"/>
            <a:ext cx="40158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>
            <a:spLocks noGrp="1"/>
          </p:cNvSpPr>
          <p:nvPr>
            <p:ph type="body" idx="3"/>
          </p:nvPr>
        </p:nvSpPr>
        <p:spPr>
          <a:xfrm>
            <a:off x="457200" y="4023720"/>
            <a:ext cx="40158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>
            <a:spLocks noGrp="1"/>
          </p:cNvSpPr>
          <p:nvPr>
            <p:ph type="body" idx="4"/>
          </p:nvPr>
        </p:nvSpPr>
        <p:spPr>
          <a:xfrm>
            <a:off x="4674240" y="4023720"/>
            <a:ext cx="40158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7543440" cy="129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457200" y="1719360"/>
            <a:ext cx="26496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3239640" y="1719360"/>
            <a:ext cx="26496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022080" y="1719360"/>
            <a:ext cx="26496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457200" y="4023720"/>
            <a:ext cx="26496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>
            <a:spLocks noGrp="1"/>
          </p:cNvSpPr>
          <p:nvPr>
            <p:ph type="body" idx="5"/>
          </p:nvPr>
        </p:nvSpPr>
        <p:spPr>
          <a:xfrm>
            <a:off x="3239640" y="4023720"/>
            <a:ext cx="26496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>
            <a:spLocks noGrp="1"/>
          </p:cNvSpPr>
          <p:nvPr>
            <p:ph type="body" idx="6"/>
          </p:nvPr>
        </p:nvSpPr>
        <p:spPr>
          <a:xfrm>
            <a:off x="6022080" y="4023720"/>
            <a:ext cx="2649600" cy="21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8915400" y="1143000"/>
            <a:ext cx="228240" cy="47239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" name="Google Shape;7;p1"/>
          <p:cNvSpPr/>
          <p:nvPr/>
        </p:nvSpPr>
        <p:spPr>
          <a:xfrm>
            <a:off x="0" y="1143000"/>
            <a:ext cx="228240" cy="4723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8" name="Google Shape;8;p1" descr="\\Sefile-sr\mb_2012\WIP\10516\Logo.jpg"/>
          <p:cNvPicPr preferRelativeResize="0"/>
          <p:nvPr/>
        </p:nvPicPr>
        <p:blipFill rotWithShape="1">
          <a:blip r:embed="rId12"/>
          <a:srcRect r="51958" b="56957"/>
          <a:stretch>
            <a:fillRect/>
          </a:stretch>
        </p:blipFill>
        <p:spPr>
          <a:xfrm>
            <a:off x="7543800" y="228600"/>
            <a:ext cx="1523520" cy="766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 descr="\\Sefile-sr\mb_2012\WIP\10516\Logo.jpg"/>
          <p:cNvPicPr preferRelativeResize="0"/>
          <p:nvPr/>
        </p:nvPicPr>
        <p:blipFill rotWithShape="1">
          <a:blip r:embed="rId12"/>
          <a:srcRect r="51958" b="56957"/>
          <a:stretch>
            <a:fillRect/>
          </a:stretch>
        </p:blipFill>
        <p:spPr>
          <a:xfrm>
            <a:off x="7543800" y="228600"/>
            <a:ext cx="1523520" cy="7664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7543440" cy="129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/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719360"/>
            <a:ext cx="8229240" cy="441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/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248520"/>
            <a:ext cx="2133360" cy="45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/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080" y="6248520"/>
            <a:ext cx="2895120" cy="45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/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080" y="6248520"/>
            <a:ext cx="2133360" cy="45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None/>
              <a:defRPr sz="10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/>
          <p:nvPr/>
        </p:nvSpPr>
        <p:spPr>
          <a:xfrm>
            <a:off x="984250" y="2133600"/>
            <a:ext cx="7175500" cy="362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latin typeface="Times New Roman" panose="02020603050405020304" charset="0"/>
                <a:cs typeface="Times New Roman" panose="02020603050405020304" charset="0"/>
              </a:rPr>
              <a:t>PostgreSQL </a:t>
            </a:r>
            <a:endParaRPr lang="en-US" sz="4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latin typeface="Times New Roman" panose="02020603050405020304" charset="0"/>
                <a:cs typeface="Times New Roman" panose="02020603050405020304" charset="0"/>
              </a:rPr>
              <a:t>Database</a:t>
            </a:r>
            <a:endParaRPr lang="en-US" sz="4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latin typeface="Times New Roman" panose="02020603050405020304" charset="0"/>
                <a:cs typeface="Times New Roman" panose="02020603050405020304" charset="0"/>
              </a:rPr>
              <a:t>Design</a:t>
            </a:r>
            <a:endParaRPr lang="en-US" sz="4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4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</a:rPr>
              <a:t>Smart Enovations (India) Pvt. Ltd</a:t>
            </a:r>
            <a:endParaRPr lang="en-US" sz="2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</a:rPr>
              <a:t>D2 3rd Floor, MSM Plaza,</a:t>
            </a:r>
            <a:endParaRPr lang="en-US" sz="2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</a:rPr>
              <a:t>Dodd Banasawadi,</a:t>
            </a:r>
            <a:endParaRPr lang="en-US" sz="2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</a:rPr>
              <a:t>Banglore -560043</a:t>
            </a:r>
            <a:endParaRPr lang="en-US" sz="2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948840" y="2931600"/>
            <a:ext cx="7175400" cy="12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/>
        </p:nvSpPr>
        <p:spPr>
          <a:xfrm>
            <a:off x="132715" y="1157605"/>
            <a:ext cx="8765540" cy="568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	</a:t>
            </a:r>
            <a:endParaRPr lang="en-US" sz="19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1900" dirty="0">
                <a:latin typeface="Times New Roman" panose="02020603050405020304" charset="0"/>
                <a:cs typeface="Times New Roman" panose="02020603050405020304" charset="0"/>
              </a:rPr>
              <a:t>	</a:t>
            </a:r>
            <a:endParaRPr lang="en-US" sz="19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132715" y="191770"/>
            <a:ext cx="7543800" cy="824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IN" sz="3000" b="1" strike="noStrike" dirty="0" smtClean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Database Strorage Spece Consumption Analysis on Windows Machine</a:t>
            </a:r>
            <a:endParaRPr lang="en-US" altLang="en-IN" sz="3000" b="1" strike="noStrike" dirty="0" smtClean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6" name="Table 5"/>
          <p:cNvGraphicFramePr/>
          <p:nvPr/>
        </p:nvGraphicFramePr>
        <p:xfrm>
          <a:off x="219075" y="1193165"/>
          <a:ext cx="8715375" cy="419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3075"/>
                <a:gridCol w="1743075"/>
                <a:gridCol w="1743075"/>
                <a:gridCol w="1743075"/>
                <a:gridCol w="1743075"/>
              </a:tblGrid>
              <a:tr h="599440"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</a:tr>
              <a:tr h="599440"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</a:tr>
              <a:tr h="599440"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</a:tr>
              <a:tr h="599440"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</a:tr>
              <a:tr h="599440"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</a:tr>
              <a:tr h="599440"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</a:tr>
              <a:tr h="599440"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/>
          <p:nvPr/>
        </p:nvGraphicFramePr>
        <p:xfrm>
          <a:off x="222250" y="1169670"/>
          <a:ext cx="8702675" cy="4110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0535"/>
                <a:gridCol w="1740535"/>
                <a:gridCol w="1740535"/>
                <a:gridCol w="1740535"/>
                <a:gridCol w="1740535"/>
              </a:tblGrid>
              <a:tr h="4324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No of Rows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Time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Frequency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No of Parameters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Space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</a:tr>
              <a:tr h="4381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3600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10 Hours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10 Seconds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76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~ 1.1 Mb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</a:tr>
              <a:tr h="4095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3600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10 Hours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10 Seconds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66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~ 1 Mb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</a:tr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3600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12.5 Days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5 Min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76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1.1 Mb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</a:tr>
              <a:tr h="4191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3600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12.5 Days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5 Min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66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 Mb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</a:tr>
              <a:tr h="4654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3600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600 Days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4 Hours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76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1.1 Mb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</a:tr>
              <a:tr h="5410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3600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600 Days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4 Hours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66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 Mb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</a:tr>
              <a:tr h="492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8640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 Day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10 Seconds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76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2.64 Mb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</a:tr>
              <a:tr h="4552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8640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 Day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10 Seconds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66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2.4 Mb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228600" y="5433695"/>
            <a:ext cx="8715375" cy="1137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latin typeface="Times New Roman" panose="02020603050405020304" charset="0"/>
                <a:cs typeface="Times New Roman" panose="02020603050405020304" charset="0"/>
              </a:rPr>
              <a:t>Empty Data Table = 32525 Bytes (with all django auth tables)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latin typeface="Times New Roman" panose="02020603050405020304" charset="0"/>
                <a:cs typeface="Times New Roman" panose="02020603050405020304" charset="0"/>
              </a:rPr>
              <a:t>With one SuperUser = 32765 Bytes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latin typeface="Times New Roman" panose="02020603050405020304" charset="0"/>
                <a:cs typeface="Times New Roman" panose="02020603050405020304" charset="0"/>
              </a:rPr>
              <a:t>With 76 parameters (1 row) = 32952 Bytes</a:t>
            </a:r>
            <a:endParaRPr lang="en-US"/>
          </a:p>
          <a:p>
            <a:r>
              <a:rPr lang="en-US"/>
              <a:t>  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7543165" cy="602615"/>
          </a:xfrm>
        </p:spPr>
        <p:txBody>
          <a:bodyPr/>
          <a:lstStyle/>
          <a:p>
            <a:r>
              <a:rPr lang="en-US" sz="2800" b="1" dirty="0" smtClean="0">
                <a:latin typeface="Times New Roman" panose="02020603050405020304" charset="0"/>
                <a:cs typeface="Times New Roman" panose="02020603050405020304" charset="0"/>
              </a:rPr>
              <a:t> Cont...</a:t>
            </a:r>
            <a:endParaRPr lang="en-US" sz="28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66800"/>
            <a:ext cx="3560445" cy="5554980"/>
          </a:xfrm>
        </p:spPr>
        <p:txBody>
          <a:bodyPr/>
          <a:lstStyle/>
          <a:p>
            <a:endParaRPr lang="en-US" dirty="0"/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For 30 Days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, 10 Sec Frequency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sz="2000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	76 Parameters  75 Mb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	66 Parameters   72 Mb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For 1 Year, 10 Sec Frequency:</a:t>
            </a:r>
            <a:endParaRPr lang="en-US" sz="2000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76 Parameters   963.6 Mb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	66 Parameters   876 Mb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For 1 Year, 5 Min Frequency:</a:t>
            </a:r>
            <a:endParaRPr lang="en-US" sz="2000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	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76 Parameters   32.12 Mb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	66 Parameters   29.1 Mb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For 1 Year, 4 Hours Frequency:</a:t>
            </a:r>
            <a:endParaRPr lang="en-US" sz="2000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	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76 Parameters   0.67 Mb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	66 Parameters   0.61 Mb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-   Based on windows bit version (32bit </a:t>
            </a:r>
            <a:r>
              <a:rPr lang="en-IN" altLang="en-US" sz="2000" dirty="0">
                <a:latin typeface="Times New Roman" panose="02020603050405020304" charset="0"/>
                <a:cs typeface="Times New Roman" panose="02020603050405020304" charset="0"/>
              </a:rPr>
              <a:t>o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r 64bit) download respective zip file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-   Extract zip file and keep anywhere in</a:t>
            </a:r>
            <a:r>
              <a:rPr lang="en-IN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your system for further use.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267200" y="2514600"/>
            <a:ext cx="4610735" cy="27381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</a:rPr>
              <a:t>0 (zero) = 1 Byte</a:t>
            </a:r>
            <a:endParaRPr lang="en-US" sz="1800">
              <a:solidFill>
                <a:srgbClr val="00B0F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</a:rPr>
              <a:t>null = 2 Bytes</a:t>
            </a:r>
            <a:endParaRPr lang="en-US" sz="1800">
              <a:solidFill>
                <a:srgbClr val="00B0F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/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latin typeface="Times New Roman" panose="02020603050405020304" charset="0"/>
                <a:cs typeface="Times New Roman" panose="02020603050405020304" charset="0"/>
              </a:rPr>
              <a:t>1 Parameter as 0 (zero as  default value) 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>
                <a:latin typeface="Times New Roman" panose="02020603050405020304" charset="0"/>
                <a:cs typeface="Times New Roman" panose="02020603050405020304" charset="0"/>
              </a:rPr>
              <a:t>         For 1 Year, 10 Sec Frequency = 3.15 Mb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latin typeface="Times New Roman" panose="02020603050405020304" charset="0"/>
                <a:cs typeface="Times New Roman" panose="02020603050405020304" charset="0"/>
              </a:rPr>
              <a:t>1 Parameter as Null ( null as default value)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>
                <a:latin typeface="Times New Roman" panose="02020603050405020304" charset="0"/>
                <a:cs typeface="Times New Roman" panose="02020603050405020304" charset="0"/>
              </a:rPr>
              <a:t>         For 1 Year, 10 Sec Frequency = 6.3 Mb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r>
              <a:rPr lang="en-US"/>
              <a:t>  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/>
        </p:nvSpPr>
        <p:spPr>
          <a:xfrm>
            <a:off x="132715" y="1157605"/>
            <a:ext cx="8765540" cy="568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	</a:t>
            </a:r>
            <a:endParaRPr lang="en-US" sz="19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1900" dirty="0">
                <a:latin typeface="Times New Roman" panose="02020603050405020304" charset="0"/>
                <a:cs typeface="Times New Roman" panose="02020603050405020304" charset="0"/>
              </a:rPr>
              <a:t>	</a:t>
            </a:r>
            <a:endParaRPr lang="en-US" sz="19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457200" y="191770"/>
            <a:ext cx="7543800" cy="824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IN" sz="3000" b="1" strike="noStrike" dirty="0" smtClean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On Raspberry Pi</a:t>
            </a:r>
            <a:endParaRPr lang="en-US" altLang="en-IN" sz="3000" b="1" strike="noStrike" dirty="0" smtClean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6" name="Table 5"/>
          <p:cNvGraphicFramePr/>
          <p:nvPr/>
        </p:nvGraphicFramePr>
        <p:xfrm>
          <a:off x="219075" y="1193165"/>
          <a:ext cx="8715375" cy="419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3075"/>
                <a:gridCol w="1743075"/>
                <a:gridCol w="1743075"/>
                <a:gridCol w="1743075"/>
                <a:gridCol w="1743075"/>
              </a:tblGrid>
              <a:tr h="599440"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</a:tr>
              <a:tr h="599440"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</a:tr>
              <a:tr h="599440"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</a:tr>
              <a:tr h="599440"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</a:tr>
              <a:tr h="599440"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</a:tr>
              <a:tr h="599440"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</a:tr>
              <a:tr h="599440"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>
                    <a:pattFill prst="pct5">
                      <a:fgClr>
                        <a:schemeClr val="accent1">
                          <a:lumMod val="40000"/>
                          <a:lumOff val="6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/>
          <p:nvPr/>
        </p:nvGraphicFramePr>
        <p:xfrm>
          <a:off x="222250" y="1169670"/>
          <a:ext cx="8702675" cy="4110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0535"/>
                <a:gridCol w="1740535"/>
                <a:gridCol w="1740535"/>
                <a:gridCol w="1740535"/>
                <a:gridCol w="1740535"/>
              </a:tblGrid>
              <a:tr h="4324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No of Rows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Time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Frequency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No of Parameters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Space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</a:tr>
              <a:tr h="4381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360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 Hour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10 Seconds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76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~ 0.10 Mb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</a:tr>
              <a:tr h="4095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360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 Hour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10 Seconds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66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~ 0.089 Mb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</a:tr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360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30 Hours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5 Min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76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sym typeface="+mn-ea"/>
                        </a:rPr>
                        <a:t>~ 0.10 Mb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</a:tr>
              <a:tr h="4191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sym typeface="+mn-ea"/>
                        </a:rPr>
                        <a:t>360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30 Hours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5 Min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66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sym typeface="+mn-ea"/>
                        </a:rPr>
                        <a:t>~ 0.089 Mb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</a:tr>
              <a:tr h="4654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sym typeface="+mn-ea"/>
                        </a:rPr>
                        <a:t>360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60 Days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4 Hours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76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sym typeface="+mn-ea"/>
                        </a:rPr>
                        <a:t>~ 0.10 Mb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</a:tr>
              <a:tr h="5410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sym typeface="+mn-ea"/>
                        </a:rPr>
                        <a:t>360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60 Days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4 Hours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66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sym typeface="+mn-ea"/>
                        </a:rPr>
                        <a:t>~ 0.089 Mb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</a:tr>
              <a:tr h="492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8640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 Day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10 Seconds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76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2.5 Mb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</a:tr>
              <a:tr h="4552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8640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 Day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10 Seconds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66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2.1 Mb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228600" y="5433695"/>
            <a:ext cx="8715375" cy="1137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latin typeface="Times New Roman" panose="02020603050405020304" charset="0"/>
                <a:cs typeface="Times New Roman" panose="02020603050405020304" charset="0"/>
              </a:rPr>
              <a:t>Empty Data Table = 32513 Bytes (with all django auth tables)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latin typeface="Times New Roman" panose="02020603050405020304" charset="0"/>
                <a:cs typeface="Times New Roman" panose="02020603050405020304" charset="0"/>
              </a:rPr>
              <a:t>With one SuperUser = 32671 Bytes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latin typeface="Times New Roman" panose="02020603050405020304" charset="0"/>
                <a:cs typeface="Times New Roman" panose="02020603050405020304" charset="0"/>
              </a:rPr>
              <a:t>With 76 parameters (1 row) = 32970 Bytes</a:t>
            </a:r>
            <a:endParaRPr lang="en-US"/>
          </a:p>
          <a:p>
            <a:r>
              <a:rPr lang="en-US"/>
              <a:t>  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7543165" cy="602615"/>
          </a:xfrm>
        </p:spPr>
        <p:txBody>
          <a:bodyPr/>
          <a:lstStyle/>
          <a:p>
            <a:r>
              <a:rPr lang="en-US" sz="2800" b="1" dirty="0" smtClean="0">
                <a:latin typeface="Times New Roman" panose="02020603050405020304" charset="0"/>
                <a:cs typeface="Times New Roman" panose="02020603050405020304" charset="0"/>
              </a:rPr>
              <a:t> Cont...</a:t>
            </a:r>
            <a:endParaRPr lang="en-US" sz="28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66800"/>
            <a:ext cx="3560445" cy="5554980"/>
          </a:xfrm>
        </p:spPr>
        <p:txBody>
          <a:bodyPr/>
          <a:lstStyle/>
          <a:p>
            <a:endParaRPr lang="en-US" dirty="0"/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For 30 Days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, 10 Sec Frequency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sz="2000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	76 Parameters  75 Mb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	66 Parameters   63Mb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For 1 Year, 10 Sec Frequency:</a:t>
            </a:r>
            <a:endParaRPr lang="en-US" sz="2000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76 Parameters   912.5 Mb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	66 Parameters   766.5 Mb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For 1 Year, 5 Min Frequency:</a:t>
            </a:r>
            <a:endParaRPr lang="en-US" sz="2000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	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76 Parameters   29.2 Mb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	66 Parameters   ~26 Mb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sz="20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For 1 Year, 4 Hours Frequency:</a:t>
            </a:r>
            <a:endParaRPr lang="en-US" sz="2000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	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76 Parameters   0.60 Mb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	66 Parameters   0.54 Mb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-   Based on windows bit version (32bit </a:t>
            </a:r>
            <a:r>
              <a:rPr lang="en-IN" altLang="en-US" sz="2000" dirty="0">
                <a:latin typeface="Times New Roman" panose="02020603050405020304" charset="0"/>
                <a:cs typeface="Times New Roman" panose="02020603050405020304" charset="0"/>
              </a:rPr>
              <a:t>o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r 64bit) download respective zip file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-   Extract zip file and keep anywhere in</a:t>
            </a:r>
            <a:r>
              <a:rPr lang="en-IN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</a:rPr>
              <a:t>your system for further use.</a:t>
            </a: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267200" y="2514600"/>
            <a:ext cx="4610735" cy="27381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</a:rPr>
              <a:t>0 (zero) = 2 Byte</a:t>
            </a:r>
            <a:endParaRPr lang="en-US" sz="1800">
              <a:solidFill>
                <a:srgbClr val="00B0F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00B0F0"/>
                </a:solidFill>
                <a:latin typeface="Times New Roman" panose="02020603050405020304" charset="0"/>
                <a:cs typeface="Times New Roman" panose="02020603050405020304" charset="0"/>
              </a:rPr>
              <a:t>null = 2 Bytes</a:t>
            </a:r>
            <a:endParaRPr lang="en-US" sz="1800">
              <a:solidFill>
                <a:srgbClr val="00B0F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/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latin typeface="Times New Roman" panose="02020603050405020304" charset="0"/>
                <a:cs typeface="Times New Roman" panose="02020603050405020304" charset="0"/>
              </a:rPr>
              <a:t>1 Parameter as 0 (zero as  default value) 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>
                <a:latin typeface="Times New Roman" panose="02020603050405020304" charset="0"/>
                <a:cs typeface="Times New Roman" panose="02020603050405020304" charset="0"/>
              </a:rPr>
              <a:t>         For 1 Year, 10 Sec Frequency = 6 Mb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latin typeface="Times New Roman" panose="02020603050405020304" charset="0"/>
                <a:cs typeface="Times New Roman" panose="02020603050405020304" charset="0"/>
              </a:rPr>
              <a:t>1 Parameter as Null ( null as default value)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>
                <a:latin typeface="Times New Roman" panose="02020603050405020304" charset="0"/>
                <a:cs typeface="Times New Roman" panose="02020603050405020304" charset="0"/>
              </a:rPr>
              <a:t>         For 1 Year, 10 Sec Frequency = 6 Mb</a:t>
            </a:r>
            <a:endParaRPr 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r>
              <a:rPr lang="en-US"/>
              <a:t>  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2400" b="1"/>
              <a:t>Conclussion:</a:t>
            </a:r>
            <a:endParaRPr lang="en-US" sz="2400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2200">
                <a:latin typeface="Times New Roman" panose="02020603050405020304" charset="0"/>
                <a:cs typeface="Times New Roman" panose="02020603050405020304" charset="0"/>
              </a:rPr>
              <a:t>Here zero and null values consume 2 bytes of storage space in raspberry pi  for 1 parameter  which will consume 6 Mb (approx) storage space for 1 year, So its better to create 3 separate tables for respective parameters as per periodicity.</a:t>
            </a:r>
            <a:endParaRPr lang="en-US"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indent="0" algn="just">
              <a:buFont typeface="Arial" panose="020B0604020202020204" pitchFamily="34" charset="0"/>
            </a:pPr>
            <a:endParaRPr lang="en-US"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2200">
                <a:latin typeface="Times New Roman" panose="02020603050405020304" charset="0"/>
                <a:cs typeface="Times New Roman" panose="02020603050405020304" charset="0"/>
              </a:rPr>
              <a:t>And in windows machine zero will consume 1 byte and null 2 bytes, which will again consume 3.15 Mb and 6.3 Mb (approx).</a:t>
            </a:r>
            <a:endParaRPr lang="en-US"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228600" indent="0" algn="just">
              <a:buFont typeface="Arial" panose="020B0604020202020204" pitchFamily="34" charset="0"/>
            </a:pPr>
            <a:r>
              <a:rPr lang="en-US" sz="220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285750" algn="just">
              <a:buFont typeface="Arial" panose="020B0604020202020204" pitchFamily="34" charset="0"/>
              <a:buChar char="•"/>
            </a:pPr>
            <a:r>
              <a:rPr lang="en-US" sz="2200" b="1">
                <a:latin typeface="Times New Roman" panose="02020603050405020304" charset="0"/>
                <a:cs typeface="Times New Roman" panose="02020603050405020304" charset="0"/>
              </a:rPr>
              <a:t>So creating separate tables will save cunsumption of storage space.</a:t>
            </a:r>
            <a:endParaRPr lang="en-US" sz="2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/>
          <p:nvPr/>
        </p:nvSpPr>
        <p:spPr>
          <a:xfrm>
            <a:off x="1708920" y="2810160"/>
            <a:ext cx="5238000" cy="8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0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Thank You</a:t>
            </a:r>
            <a:endParaRPr sz="6600" b="0" strike="noStrike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2791</Words>
  <Application>WPS Presentation</Application>
  <PresentationFormat>On-screen Show (4:3)</PresentationFormat>
  <Paragraphs>304</Paragraphs>
  <Slides>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SimSun</vt:lpstr>
      <vt:lpstr>Wingdings</vt:lpstr>
      <vt:lpstr>Arial</vt:lpstr>
      <vt:lpstr>Times New Roman</vt:lpstr>
      <vt:lpstr>Times New Roman</vt:lpstr>
      <vt:lpstr>Microsoft YaHei</vt:lpstr>
      <vt:lpstr>Arial Unicode MS</vt:lpstr>
      <vt:lpstr>Office Theme</vt:lpstr>
      <vt:lpstr>PowerPoint 演示文稿</vt:lpstr>
      <vt:lpstr>PowerPoint 演示文稿</vt:lpstr>
      <vt:lpstr> Cont...</vt:lpstr>
      <vt:lpstr>PowerPoint 演示文稿</vt:lpstr>
      <vt:lpstr> Cont...</vt:lpstr>
      <vt:lpstr>Conclussion: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Vaibhav Boraganve</dc:creator>
  <cp:lastModifiedBy>USER-1</cp:lastModifiedBy>
  <cp:revision>137</cp:revision>
  <dcterms:created xsi:type="dcterms:W3CDTF">2021-06-23T06:15:00Z</dcterms:created>
  <dcterms:modified xsi:type="dcterms:W3CDTF">2022-06-02T07:46:51Z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1033-11.2.0.11130</vt:lpwstr>
  </property>
  <property fmtid="{D5CDD505-2E9C-101B-9397-08002B2CF9AE}" pid="3" name="ICV">
    <vt:lpwstr>A730565720064153B5973AECC9F63E0D</vt:lpwstr>
  </property>
</Properties>
</file>